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64008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F2A44"/>
          </a:solidFill>
          <a:ln w="15875">
            <a:solidFill>
              <a:srgbClr val="3E4A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32136" y="64008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F2A44"/>
          </a:solidFill>
          <a:ln w="15875">
            <a:solidFill>
              <a:srgbClr val="3E4A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17352" y="64008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B703"/>
          </a:solidFill>
          <a:ln w="15875">
            <a:solidFill>
              <a:srgbClr val="3E4A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02568" y="64008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F2A44"/>
          </a:solidFill>
          <a:ln w="15875">
            <a:solidFill>
              <a:srgbClr val="3E4A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22529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F2A44"/>
          </a:solidFill>
          <a:ln w="15875">
            <a:solidFill>
              <a:srgbClr val="3E4A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32136" y="122529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B703"/>
          </a:solidFill>
          <a:ln w="15875">
            <a:solidFill>
              <a:srgbClr val="3E4A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17352" y="122529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F2A44"/>
          </a:solidFill>
          <a:ln w="15875">
            <a:solidFill>
              <a:srgbClr val="3E4A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02568" y="122529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F2A44"/>
          </a:solidFill>
          <a:ln w="15875">
            <a:solidFill>
              <a:srgbClr val="3E4A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46920" y="181051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F2A44"/>
          </a:solidFill>
          <a:ln w="15875">
            <a:solidFill>
              <a:srgbClr val="3E4A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32136" y="181051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FB703"/>
          </a:solidFill>
          <a:ln w="15875">
            <a:solidFill>
              <a:srgbClr val="3E4A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17352" y="181051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F2A44"/>
          </a:solidFill>
          <a:ln w="15875">
            <a:solidFill>
              <a:srgbClr val="3E4A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02568" y="181051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F2A44"/>
          </a:solidFill>
          <a:ln w="15875">
            <a:solidFill>
              <a:srgbClr val="3E4A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14300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STRUCTURES MINI PROJECT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600200"/>
            <a:ext cx="877824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PARKING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MANAGEMENT SYSTEM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731520" y="379476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6CCD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console-based C application that automates slot allocation, waiting-line management and fee billing.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5074920"/>
            <a:ext cx="8778240" cy="1051560"/>
          </a:xfrm>
          <a:prstGeom prst="roundRect">
            <a:avLst>
              <a:gd name="adj" fmla="val 7826"/>
            </a:avLst>
          </a:prstGeom>
          <a:solidFill>
            <a:srgbClr val="16203A"/>
          </a:solidFill>
          <a:ln w="12700">
            <a:solidFill>
              <a:srgbClr val="3440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5280660"/>
            <a:ext cx="640080" cy="640080"/>
          </a:xfrm>
          <a:prstGeom prst="ellipse">
            <a:avLst/>
          </a:prstGeom>
          <a:solidFill>
            <a:srgbClr val="FFB703"/>
          </a:solidFill>
        </p:spPr>
      </p:sp>
      <p:pic>
        <p:nvPicPr>
          <p:cNvPr id="19" name="Image 0" descr="icons_c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5408676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783080" y="5193792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arrays, structures and a FIFO queue in C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783080" y="5596128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Slot allotment  ·  Waiting queue  ·  Duration-based billing  ·  Live status display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THE CHALLENGE &amp; OUR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manual parking management breaks down, and how the program fixes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EDF1F6"/>
          </a:solidFill>
        </p:spPr>
      </p:sp>
      <p:sp>
        <p:nvSpPr>
          <p:cNvPr id="5" name="Shape 3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rgbClr val="1F2A44"/>
          </a:solidFill>
        </p:spPr>
      </p:sp>
      <p:pic>
        <p:nvPicPr>
          <p:cNvPr id="6" name="Image 0" descr="icons_war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404" y="204496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57200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Vehicles are logged by hand — slow, and slot status is never known in real time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structured way to hold vehicles when the lot is full, so latecomers are turned away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Parking duration and fees are calculated manually, which is slow and error-prone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35040" y="160020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FF3DC"/>
          </a:solidFill>
        </p:spPr>
      </p:sp>
      <p:sp>
        <p:nvSpPr>
          <p:cNvPr id="10" name="Shape 7"/>
          <p:cNvSpPr/>
          <p:nvPr/>
        </p:nvSpPr>
        <p:spPr>
          <a:xfrm>
            <a:off x="6355080" y="1920240"/>
            <a:ext cx="566928" cy="566928"/>
          </a:xfrm>
          <a:prstGeom prst="ellipse">
            <a:avLst/>
          </a:prstGeom>
          <a:solidFill>
            <a:srgbClr val="E29E00"/>
          </a:solidFill>
        </p:spPr>
      </p:sp>
      <p:pic>
        <p:nvPicPr>
          <p:cNvPr id="11" name="Image 1" descr="icons_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804" y="204496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6596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355080" y="2651760"/>
            <a:ext cx="457200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array of slot records tracks every space and its occupant, updated the instant a car parks or exits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FIFO waiting queue automatically holds overflow vehicles and assigns them the next free slot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Entry and exit timestamps are used to compute duration and bill the correct fee automatically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2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PARKING MANAGEMENT SYSTEM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HOW IT WORKS — PROJECT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1F2A44"/>
          </a:solidFill>
        </p:spPr>
      </p:sp>
      <p:sp>
        <p:nvSpPr>
          <p:cNvPr id="4" name="Shape 2"/>
          <p:cNvSpPr/>
          <p:nvPr/>
        </p:nvSpPr>
        <p:spPr>
          <a:xfrm>
            <a:off x="768096" y="1216152"/>
            <a:ext cx="493776" cy="493776"/>
          </a:xfrm>
          <a:prstGeom prst="ellipse">
            <a:avLst/>
          </a:prstGeom>
          <a:solidFill>
            <a:srgbClr val="FFB703"/>
          </a:solidFill>
        </p:spPr>
      </p:sp>
      <p:pic>
        <p:nvPicPr>
          <p:cNvPr id="5" name="Image 0" descr="icons_c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789" y="1319845"/>
            <a:ext cx="286390" cy="286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14300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 ARRIVES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63640" y="114300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1F2A44"/>
          </a:solidFill>
        </p:spPr>
      </p:sp>
      <p:sp>
        <p:nvSpPr>
          <p:cNvPr id="8" name="Shape 5"/>
          <p:cNvSpPr/>
          <p:nvPr/>
        </p:nvSpPr>
        <p:spPr>
          <a:xfrm>
            <a:off x="6391656" y="1216152"/>
            <a:ext cx="493776" cy="493776"/>
          </a:xfrm>
          <a:prstGeom prst="ellipse">
            <a:avLst/>
          </a:prstGeom>
          <a:solidFill>
            <a:srgbClr val="FFB703"/>
          </a:solidFill>
        </p:spPr>
      </p:sp>
      <p:pic>
        <p:nvPicPr>
          <p:cNvPr id="9" name="Image 1" descr="icons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349" y="1319845"/>
            <a:ext cx="286390" cy="286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114300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 LEAVES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" y="2057400"/>
            <a:ext cx="51206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508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86384" y="2304288"/>
            <a:ext cx="347472" cy="347472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13" name="Text 9"/>
          <p:cNvSpPr/>
          <p:nvPr/>
        </p:nvSpPr>
        <p:spPr>
          <a:xfrm>
            <a:off x="786384" y="230428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61872" y="2112264"/>
            <a:ext cx="431596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the slot array for the first free space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 rot="10800000">
            <a:off x="3099816" y="2935224"/>
            <a:ext cx="201168" cy="146304"/>
          </a:xfrm>
          <a:prstGeom prst="triangle">
            <a:avLst/>
          </a:prstGeom>
          <a:solidFill>
            <a:srgbClr val="B9C2D0"/>
          </a:solidFill>
        </p:spPr>
      </p:sp>
      <p:sp>
        <p:nvSpPr>
          <p:cNvPr id="16" name="Shape 12"/>
          <p:cNvSpPr/>
          <p:nvPr/>
        </p:nvSpPr>
        <p:spPr>
          <a:xfrm>
            <a:off x="640080" y="3154680"/>
            <a:ext cx="51206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508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6384" y="3401568"/>
            <a:ext cx="347472" cy="347472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18" name="Text 14"/>
          <p:cNvSpPr/>
          <p:nvPr/>
        </p:nvSpPr>
        <p:spPr>
          <a:xfrm>
            <a:off x="786384" y="340156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261872" y="3209544"/>
            <a:ext cx="431596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→ assign the slot &amp; park.  Full → join the FIFO waiting queue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 rot="10800000">
            <a:off x="3099816" y="4032504"/>
            <a:ext cx="201168" cy="146304"/>
          </a:xfrm>
          <a:prstGeom prst="triangle">
            <a:avLst/>
          </a:prstGeom>
          <a:solidFill>
            <a:srgbClr val="B9C2D0"/>
          </a:solidFill>
        </p:spPr>
      </p:sp>
      <p:sp>
        <p:nvSpPr>
          <p:cNvPr id="21" name="Shape 17"/>
          <p:cNvSpPr/>
          <p:nvPr/>
        </p:nvSpPr>
        <p:spPr>
          <a:xfrm>
            <a:off x="640080" y="4251960"/>
            <a:ext cx="51206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508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86384" y="4498848"/>
            <a:ext cx="347472" cy="347472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23" name="Text 19"/>
          <p:cNvSpPr/>
          <p:nvPr/>
        </p:nvSpPr>
        <p:spPr>
          <a:xfrm>
            <a:off x="786384" y="449884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261872" y="4306824"/>
            <a:ext cx="431596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vehicle number, owner, type &amp; entry time in the record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263640" y="2057400"/>
            <a:ext cx="51206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508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409944" y="2304288"/>
            <a:ext cx="347472" cy="347472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27" name="Text 23"/>
          <p:cNvSpPr/>
          <p:nvPr/>
        </p:nvSpPr>
        <p:spPr>
          <a:xfrm>
            <a:off x="6409944" y="230428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885432" y="2112264"/>
            <a:ext cx="431596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the vehicle number and locate its parking record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 rot="10800000">
            <a:off x="8723376" y="2935224"/>
            <a:ext cx="201168" cy="146304"/>
          </a:xfrm>
          <a:prstGeom prst="triangle">
            <a:avLst/>
          </a:prstGeom>
          <a:solidFill>
            <a:srgbClr val="B9C2D0"/>
          </a:solidFill>
        </p:spPr>
      </p:sp>
      <p:sp>
        <p:nvSpPr>
          <p:cNvPr id="30" name="Shape 26"/>
          <p:cNvSpPr/>
          <p:nvPr/>
        </p:nvSpPr>
        <p:spPr>
          <a:xfrm>
            <a:off x="6263640" y="3154680"/>
            <a:ext cx="51206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508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409944" y="3401568"/>
            <a:ext cx="347472" cy="347472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32" name="Text 28"/>
          <p:cNvSpPr/>
          <p:nvPr/>
        </p:nvSpPr>
        <p:spPr>
          <a:xfrm>
            <a:off x="6409944" y="340156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885432" y="3209544"/>
            <a:ext cx="431596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 parked duration and calculate the fee (Bike ₹20/hr, Car ₹40/hr)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 rot="10800000">
            <a:off x="8723376" y="4032504"/>
            <a:ext cx="201168" cy="146304"/>
          </a:xfrm>
          <a:prstGeom prst="triangle">
            <a:avLst/>
          </a:prstGeom>
          <a:solidFill>
            <a:srgbClr val="B9C2D0"/>
          </a:solidFill>
        </p:spPr>
      </p:sp>
      <p:sp>
        <p:nvSpPr>
          <p:cNvPr id="35" name="Shape 31"/>
          <p:cNvSpPr/>
          <p:nvPr/>
        </p:nvSpPr>
        <p:spPr>
          <a:xfrm>
            <a:off x="6263640" y="4251960"/>
            <a:ext cx="51206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508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409944" y="4498848"/>
            <a:ext cx="347472" cy="347472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37" name="Text 33"/>
          <p:cNvSpPr/>
          <p:nvPr/>
        </p:nvSpPr>
        <p:spPr>
          <a:xfrm>
            <a:off x="6409944" y="449884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6885432" y="4306824"/>
            <a:ext cx="431596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Print the bill, free the slot &amp; mark the vehicle exited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 rot="10800000">
            <a:off x="8723376" y="5129784"/>
            <a:ext cx="201168" cy="146304"/>
          </a:xfrm>
          <a:prstGeom prst="triangle">
            <a:avLst/>
          </a:prstGeom>
          <a:solidFill>
            <a:srgbClr val="B9C2D0"/>
          </a:solidFill>
        </p:spPr>
      </p:sp>
      <p:sp>
        <p:nvSpPr>
          <p:cNvPr id="40" name="Shape 36"/>
          <p:cNvSpPr/>
          <p:nvPr/>
        </p:nvSpPr>
        <p:spPr>
          <a:xfrm>
            <a:off x="6263640" y="5349240"/>
            <a:ext cx="51206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1EA"/>
            </a:solidFill>
            <a:prstDash val="solid"/>
          </a:ln>
          <a:effectLst>
            <a:outerShdw blurRad="50800" dist="25400" dir="5400000" algn="bl" rotWithShape="0">
              <a:srgbClr val="B9C2D0">
                <a:alpha val="35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6409944" y="5596128"/>
            <a:ext cx="347472" cy="347472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42" name="Text 38"/>
          <p:cNvSpPr/>
          <p:nvPr/>
        </p:nvSpPr>
        <p:spPr>
          <a:xfrm>
            <a:off x="6409944" y="559612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Text 39"/>
          <p:cNvSpPr/>
          <p:nvPr/>
        </p:nvSpPr>
        <p:spPr>
          <a:xfrm>
            <a:off x="6885432" y="5404104"/>
            <a:ext cx="431596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Auto-assign the freed slot to the next vehicle in the waiting queue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2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PARKING MANAGEMENT SYSTEM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4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KEY DATA STRUCTURES &amp; CONCEPTS USED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core building blocks of the C program, mapped to what they 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1F2A44"/>
          </a:solidFill>
        </p:spPr>
      </p:sp>
      <p:pic>
        <p:nvPicPr>
          <p:cNvPr id="6" name="Image 0" descr="icons_stru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1980956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60320"/>
            <a:ext cx="30998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29E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2926080"/>
            <a:ext cx="3099816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 Vehicle and struct Queue model every parked or waiting car as one record: number, owner, type, slot, time.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1856232"/>
            <a:ext cx="566928" cy="566928"/>
          </a:xfrm>
          <a:prstGeom prst="ellipse">
            <a:avLst/>
          </a:prstGeom>
          <a:solidFill>
            <a:srgbClr val="1F2A44"/>
          </a:solidFill>
        </p:spPr>
      </p:sp>
      <p:pic>
        <p:nvPicPr>
          <p:cNvPr id="11" name="Image 1" descr="icons_ar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436" y="198095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560320"/>
            <a:ext cx="30998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29E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53712" y="2926080"/>
            <a:ext cx="3099816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fixed parking[10] array represents the real lot; a linear scan finds the first free slot.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02752" y="1856232"/>
            <a:ext cx="566928" cy="566928"/>
          </a:xfrm>
          <a:prstGeom prst="ellipse">
            <a:avLst/>
          </a:prstGeom>
          <a:solidFill>
            <a:srgbClr val="1F2A44"/>
          </a:solidFill>
        </p:spPr>
      </p:sp>
      <p:pic>
        <p:nvPicPr>
          <p:cNvPr id="16" name="Image 2" descr="icons_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476" y="1980956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560320"/>
            <a:ext cx="30998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29E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FIFO Queue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02752" y="2926080"/>
            <a:ext cx="3099816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waitingQueue[20] with front/rear indices holds overflow vehicles and releases them in arrival order.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187952"/>
            <a:ext cx="566928" cy="566928"/>
          </a:xfrm>
          <a:prstGeom prst="ellipse">
            <a:avLst/>
          </a:prstGeom>
          <a:solidFill>
            <a:srgbClr val="1F2A44"/>
          </a:solidFill>
        </p:spPr>
      </p:sp>
      <p:pic>
        <p:nvPicPr>
          <p:cNvPr id="21" name="Image 3" descr="icons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96" y="4312676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892040"/>
            <a:ext cx="30998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29E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Search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04672" y="5257800"/>
            <a:ext cx="3099816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searchVehicle() scans occupied slots by number to find the right record when a car exits.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3931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53712" y="4187952"/>
            <a:ext cx="566928" cy="566928"/>
          </a:xfrm>
          <a:prstGeom prst="ellipse">
            <a:avLst/>
          </a:prstGeom>
          <a:solidFill>
            <a:srgbClr val="1F2A44"/>
          </a:solidFill>
        </p:spPr>
      </p:sp>
      <p:pic>
        <p:nvPicPr>
          <p:cNvPr id="26" name="Image 4" descr="icons_str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8436" y="4312676"/>
            <a:ext cx="317480" cy="317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892040"/>
            <a:ext cx="30998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29E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 Handling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553712" y="5257800"/>
            <a:ext cx="3099816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strcpy() and strcmp() copy and compare vehicle numbers, names and types across records.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9319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02752" y="4187952"/>
            <a:ext cx="566928" cy="566928"/>
          </a:xfrm>
          <a:prstGeom prst="ellipse">
            <a:avLst/>
          </a:prstGeom>
          <a:solidFill>
            <a:srgbClr val="1F2A44"/>
          </a:solidFill>
        </p:spPr>
      </p:sp>
      <p:pic>
        <p:nvPicPr>
          <p:cNvPr id="31" name="Image 5" descr="icons_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7476" y="4312676"/>
            <a:ext cx="317480" cy="317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4892040"/>
            <a:ext cx="309981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29E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 Functions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302752" y="5257800"/>
            <a:ext cx="3099816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Park, exit, display, enqueue and dequeue are each isolated into their own function for clarity.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2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PARKING MANAGEMENT SYSTEM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FEASIBILITY &amp; VIABILITY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makes the approach practical, and how known limits are handled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EDF1F6"/>
          </a:solidFill>
        </p:spPr>
      </p:sp>
      <p:sp>
        <p:nvSpPr>
          <p:cNvPr id="5" name="Shape 3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rgbClr val="1F2A44"/>
          </a:solidFill>
        </p:spPr>
      </p:sp>
      <p:pic>
        <p:nvPicPr>
          <p:cNvPr id="6" name="Image 0" descr="icons_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404" y="204496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It's Feasible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57200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 C with fixed-size arrays keeps memory use small, predictable and fast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external libraries or setup — compiles and runs on any standard C environment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Menu-driven design keeps the scope simple and easy to test end-to-end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160020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FF3DC"/>
          </a:solidFill>
        </p:spPr>
      </p:sp>
      <p:sp>
        <p:nvSpPr>
          <p:cNvPr id="10" name="Shape 7"/>
          <p:cNvSpPr/>
          <p:nvPr/>
        </p:nvSpPr>
        <p:spPr>
          <a:xfrm>
            <a:off x="6355080" y="1920240"/>
            <a:ext cx="566928" cy="566928"/>
          </a:xfrm>
          <a:prstGeom prst="ellipse">
            <a:avLst/>
          </a:prstGeom>
          <a:solidFill>
            <a:srgbClr val="E29E00"/>
          </a:solidFill>
        </p:spPr>
      </p:sp>
      <p:pic>
        <p:nvPicPr>
          <p:cNvPr id="11" name="Image 1" descr="icons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804" y="204496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6596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&amp; Fixes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355080" y="2651760"/>
            <a:ext cx="457200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10 slots → the waiting queue absorbs overflow instead of turning cars away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 reset when the program closes → next step is saving data to a file or database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A2E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Queue capped at 20 → can be made dynamic with linked lists in a future version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2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PARKING MANAGEMENT SYSTEM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2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IMPACT &amp; BENEFITS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EB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system delivers over manual, paper-based parking management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16203A"/>
          </a:solidFill>
          <a:ln w="12700">
            <a:solidFill>
              <a:srgbClr val="3440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56232"/>
            <a:ext cx="27889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B703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100%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B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slot tracking — no logbooks or guesswork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60520" y="169164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16203A"/>
          </a:solidFill>
          <a:ln w="12700">
            <a:solidFill>
              <a:srgbClr val="3440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856232"/>
            <a:ext cx="27889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B703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389120" y="2560320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B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Double allotments — the queue prevents overbooking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35240" y="169164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16203A"/>
          </a:solidFill>
          <a:ln w="12700">
            <a:solidFill>
              <a:srgbClr val="3440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1856232"/>
            <a:ext cx="27889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B703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Instant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863840" y="2560320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B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Duration-based billing on every exit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566160"/>
            <a:ext cx="10835640" cy="2468880"/>
          </a:xfrm>
          <a:prstGeom prst="roundRect">
            <a:avLst>
              <a:gd name="adj" fmla="val 2963"/>
            </a:avLst>
          </a:prstGeom>
          <a:solidFill>
            <a:srgbClr val="16203A"/>
          </a:solidFill>
          <a:ln w="12700">
            <a:solidFill>
              <a:srgbClr val="3440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840480"/>
            <a:ext cx="530352" cy="530352"/>
          </a:xfrm>
          <a:prstGeom prst="ellipse">
            <a:avLst/>
          </a:prstGeom>
          <a:solidFill>
            <a:srgbClr val="FFB703"/>
          </a:solidFill>
        </p:spPr>
      </p:sp>
      <p:pic>
        <p:nvPicPr>
          <p:cNvPr id="15" name="Image 0" descr="icons_bol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494" y="3951854"/>
            <a:ext cx="307604" cy="30760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91640" y="38404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60120" y="443484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D7DB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Cuts manual staffing and human error out of everyday slot allotment and billing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D7DB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peak demand fairly — overflow vehicles are served in the order they arrived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D7DB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array-and-queue logic scales into a real IoT / sensor-based smart parking system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3364</Words>
  <Application>WPS Presentation</Application>
  <PresentationFormat>On-screen Show (16:9)</PresentationFormat>
  <Paragraphs>145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Calibri</vt:lpstr>
      <vt:lpstr>Calibri</vt:lpstr>
      <vt:lpstr>Bookman Old Style</vt:lpstr>
      <vt:lpstr>Bookman Old Style</vt:lpstr>
      <vt:lpstr>Bookman Old Style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8elax</cp:lastModifiedBy>
  <cp:revision>2</cp:revision>
  <dcterms:created xsi:type="dcterms:W3CDTF">2026-09-27T09:36:00Z</dcterms:created>
  <dcterms:modified xsi:type="dcterms:W3CDTF">2026-09-27T09:37:56Z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332ADD8CF40740EB84C7B07C645E65DD_13</vt:lpwstr>
  </property>
  <property fmtid="{D5CDD505-2E9C-101B-9397-08002B2CF9AE}" pid="3" name="KSOProductBuildVer">
    <vt:lpwstr>1033-12.1.0.28485</vt:lpwstr>
  </property>
</Properties>
</file>